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로봇 시뮬레이션 환경의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solidFill>
                  <a:srgbClr val="AACCFF"/>
                </a:solidFill>
              </a:rPr>
              <a:t>수치 적분 오차 예측을 위한 머신러닝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F0F0F0"/>
                </a:solidFill>
              </a:rPr>
              <a:t>[2026-1] Machine Learning — 텀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0F0F0"/>
                </a:solidFill>
              </a:rPr>
              <a:t>인하대학교  |  2026년 6월 1일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799CC"/>
                </a:solidFill>
              </a:rPr>
              <a:t>Gymnasium  |  PyTorch  | 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수치 적분 오차는 왜 중요한가?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Sim-to-Real 격차 배경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91440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111739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로봇 시뮬레이터는 연속 시간 물리 법칙을 이산 시간으로 수치 적분하여 근사한다.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66544"/>
            <a:ext cx="91440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93392"/>
            <a:ext cx="111739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Gymnasium Pendulum-v1은 1차 Euler 적분(dt = 0.05 s)을 사용한다.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87168"/>
            <a:ext cx="91440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414016"/>
            <a:ext cx="111739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Euler 오차는 긴 궤적에서 누적되어 컨트롤러 성능 저하를 유발한다.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375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프로젝트 목표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22191"/>
            <a:ext cx="114300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</a:rPr>
              <a:t>머신러닝 모델로 수치 적분 오차를 예측한다
(Euler 결과 - RK4 결과 = 보정해야 할 오차)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3C96"/>
                </a:solidFill>
              </a:rPr>
              <a:t>입력: (cosθ, sinθ, θ̇, τ)   →   출력: (err_theta, err_theta_dot)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623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활용: 오차 보상(error compensation)  |  sim-to-real 전이  |  적응형 수치 적분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환경: Gymnasium Pendulum-v1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알려진 물리 방정식을 가진 고전 제어 벤치마크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7899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단진자 운동 방정식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4864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θ'' = (3g / 2l) sin(θ) + (3 / ml²) × 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20824"/>
            <a:ext cx="54864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4825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g = 10 m/s²,  m = 1 kg,  l = 1 m,  dt = 0.05 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32888"/>
            <a:ext cx="54864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|θ̇| ≤ 8 rad/s (clipped),  |τ| ≤ 2 N·m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1089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적분 방법 비교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547872"/>
            <a:ext cx="201168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3593591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방법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547872"/>
            <a:ext cx="91440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6584" y="3593591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차수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547872"/>
            <a:ext cx="164592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0984" y="3593591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서브스텝 dt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3547872"/>
            <a:ext cx="91440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3593591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오차 차수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68496"/>
            <a:ext cx="2011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4014215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Euler (Gym)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3968496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86584" y="4014215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968496"/>
            <a:ext cx="1645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00984" y="4014215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0.05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3968496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6904" y="4014215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O(dt²)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89120"/>
            <a:ext cx="2011680" cy="4206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443484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RK4 (기준값)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4389120"/>
            <a:ext cx="914400" cy="4206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6584" y="443484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4차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389120"/>
            <a:ext cx="1645920" cy="4206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00984" y="4434840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0.0025 s ×20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92040" y="4389120"/>
            <a:ext cx="914400" cy="420624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6904" y="443484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O(dt⁵)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8920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RK4 = 20 서브스텝으로 Euler보다 훨씬 정밀한 기준값 역할</a:t>
            </a:r>
          </a:p>
        </p:txBody>
      </p:sp>
      <p:pic>
        <p:nvPicPr>
          <p:cNvPr id="39" name="pendulum_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80760" y="1078992"/>
            <a:ext cx="5806440" cy="4572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80760" y="5760720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에너지 기반 스윙업 컨트롤러 | 12초 데모 (클릭하여 재생)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데이터셋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Pendulum-v1에서 100,000 샘플 수집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2148840" cy="11704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100,000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</a:rPr>
              <a:t>총 샘플 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1078992"/>
            <a:ext cx="2148840" cy="11704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14300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17373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</a:rPr>
              <a:t>에피소드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1456" y="1078992"/>
            <a:ext cx="2148840" cy="11704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1456" y="114300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17373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</a:rPr>
              <a:t>스텝/에피소드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0024" y="1078992"/>
            <a:ext cx="2148840" cy="11704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0024" y="114300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17373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</a:rPr>
              <a:t>입력 특성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8592" y="1078992"/>
            <a:ext cx="2148840" cy="117043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08592" y="1143000"/>
            <a:ext cx="2148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1737360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0F0F0"/>
                </a:solidFill>
              </a:rPr>
              <a:t>출력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423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입력 특성 (X)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52928"/>
            <a:ext cx="109728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52928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cos(θ)    진자 각도의 코사인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328416"/>
            <a:ext cx="109728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328416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sin(θ)    진자 각도의 사인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03904"/>
            <a:ext cx="109728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803904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θ̇        각속도 (rad/s)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79392"/>
            <a:ext cx="109728" cy="34747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79392"/>
            <a:ext cx="5349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τ         적용 토크 (N·m)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4231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</a:rPr>
              <a:t>출력 목표 (y)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52928"/>
            <a:ext cx="557784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88950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err_theta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2889504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각도 오차: Euler − RK4 (rad)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419856"/>
            <a:ext cx="5577840" cy="502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5643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C96"/>
                </a:solidFill>
              </a:rPr>
              <a:t>err_theta_dot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3456432"/>
            <a:ext cx="3246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각속도 오차: Euler − RK4 (rad/s)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87044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학습 70%  |  검증 15%  |  테스트 15%   (랜덤 분할, seed=42)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모델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베이스라인 vs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44068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Linear Regression (베이스라인)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109728" cy="3291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MultiOutputRegressor(LinearRegression)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84832"/>
            <a:ext cx="109728" cy="3291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목표 변수별 독립적인 회귀 모델 적용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42032"/>
            <a:ext cx="109728" cy="3291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420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목적함수: min ||Xw - y||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9232"/>
            <a:ext cx="109728" cy="32918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992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sin(θ)에 대한 비선형 의존성 학습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078992"/>
            <a:ext cx="5440680" cy="475488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15568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MLP (주요 모델)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6276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6276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Input(4) → Linear(128) → ReLU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20848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0848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→ Linear(64) → ReLU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5420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5420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→ Linear(32) → ReLU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29992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9992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→ Linear(2)  [출력층]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4564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4564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손실함수: MSELoss  |  최적화: Adam (lr=1e-3)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913632"/>
            <a:ext cx="109728" cy="32918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9136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에폭: 100  |  배치 크기: 512</a:t>
            </a:r>
          </a:p>
        </p:txBody>
      </p:sp>
      <p:pic>
        <p:nvPicPr>
          <p:cNvPr id="30" name="Picture 29" descr="mlp_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498848"/>
            <a:ext cx="7589520" cy="202996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286000" y="6565392"/>
            <a:ext cx="7589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MLP 학습 곡선 (Train / Validation MSE, 로그 스케일)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테스트셋 성능 평가 (15,000 샘플)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384048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124712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78992"/>
            <a:ext cx="237744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15383" y="1124712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err_theta R²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078992"/>
            <a:ext cx="283464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2824" y="1124712"/>
            <a:ext cx="2724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err_theta_dot R²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078992"/>
            <a:ext cx="237744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7464" y="1124712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평균 RMSE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554480"/>
            <a:ext cx="3840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" y="1600200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Linear Regression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55448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5383" y="160020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0.9936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554480"/>
            <a:ext cx="28346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1600200"/>
            <a:ext cx="2724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0.5189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1554480"/>
            <a:ext cx="2377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4" y="1600200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1.72e-02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029967"/>
            <a:ext cx="384048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2075687"/>
            <a:ext cx="37307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MLP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29967"/>
            <a:ext cx="237744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3" y="2075687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0.9993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029967"/>
            <a:ext cx="283464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2824" y="2075687"/>
            <a:ext cx="27249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0.9974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2029967"/>
            <a:ext cx="2377440" cy="4754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27464" y="2075687"/>
            <a:ext cx="22677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</a:rPr>
              <a:t>1.41e-03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257860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873B"/>
                </a:solidFill>
              </a:rPr>
              <a:t>★  MLP: 두 목표 변수 모두 R² &gt; 0.99 달성 (평균 RMSE = 1.4×10⁻³)</a:t>
            </a:r>
          </a:p>
        </p:txBody>
      </p:sp>
      <p:pic>
        <p:nvPicPr>
          <p:cNvPr id="31" name="Picture 30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63240"/>
            <a:ext cx="1051560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예측값 vs. 실제값 산점도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CFF"/>
                </a:solidFill>
              </a:rPr>
              <a:t>두 모델의 예측 정확도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tter_err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580644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3767328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err_theta (각도 오차)</a:t>
            </a:r>
          </a:p>
        </p:txBody>
      </p:sp>
      <p:pic>
        <p:nvPicPr>
          <p:cNvPr id="8" name="Picture 7" descr="scatter_err_theta_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78992"/>
            <a:ext cx="5806440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3767328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</a:rPr>
              <a:t>err_theta_dot (각속도 오차)</a:t>
            </a:r>
          </a:p>
        </p:txBody>
      </p:sp>
      <p:pic>
        <p:nvPicPr>
          <p:cNvPr id="10" name="Picture 9" descr="residu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187952"/>
            <a:ext cx="996696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6601968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잔차 분포: MLP 잔차는 0에 좁게 집중, Linear Regression은 err_theta_dot에서 넓은 꼬리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결과 분석 및 토론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15568"/>
            <a:ext cx="1152144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61288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왜 MLP가 우수한가?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36776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9105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err_theta_dot는 sin(θ)에 비선형 의존 → 선형 모델로는 학습 불가.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39112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MLP의 ReLU 활성화 함수가 비선형 오차 곡면을 효과적으로 근사.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41448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957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err_theta는 θ̇에 선형 → LR도 R²=0.99 달성.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07792"/>
            <a:ext cx="1152144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53512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실패 사례 (Failure Modes)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|θ̇| ≈ 8 rad/s 근방: clip 연산으로 생기는 급격한 불연속점에서 오차 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85615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θ ≈ 0 (직립) 근방: 2차 미분 최대 → Euler 오차 최대 → 예측 난이도 증가.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33672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87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두 모델 모두 극단값을 약간 과소 예측하는 경향.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700016"/>
            <a:ext cx="11521440" cy="42062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45736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향후 연구 방향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75504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물리 기반 특성 추가: sin²(θ), θ̇·sin(θ) → LR 성능 향상 가능.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23560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LSTM/Transformer로 다중 스텝 오차 누적 예측.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25896"/>
            <a:ext cx="82296" cy="256032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80176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학습된 오차 모델을 MPC 컨트롤러에 통합하여 제어 성능 개선 검증.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97480"/>
            <a:ext cx="12188952" cy="54864"/>
          </a:xfrm>
          <a:prstGeom prst="rect">
            <a:avLst/>
          </a:prstGeom>
          <a:solidFill>
            <a:srgbClr val="0F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07792"/>
            <a:ext cx="10881360" cy="713232"/>
          </a:xfrm>
          <a:prstGeom prst="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9809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DEEFF"/>
                </a:solidFill>
              </a:rPr>
              <a:t>MLP [128→64→32] : 두 목표 모두 R² &gt; 0.99, 평균 RMSE = 1.4×10⁻³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30752"/>
            <a:ext cx="10881360" cy="713232"/>
          </a:xfrm>
          <a:prstGeom prst="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039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DEEFF"/>
                </a:solidFill>
              </a:rPr>
              <a:t>수치 적분 오차는 상태-행동 공간의 매끄럽고 학습 가능한 함수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53712"/>
            <a:ext cx="10881360" cy="713232"/>
          </a:xfrm>
          <a:prstGeom prst="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6268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DEEFF"/>
                </a:solidFill>
              </a:rPr>
              <a:t>Linear Regression: err_theta(R²=0.99) ▶ 강함, err_theta_dot(R²=0.52) ▶ 약함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376672"/>
            <a:ext cx="10881360" cy="713232"/>
          </a:xfrm>
          <a:prstGeom prst="rect">
            <a:avLst/>
          </a:prstGeom>
          <a:solidFill>
            <a:srgbClr val="252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44982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DEEFF"/>
                </a:solidFill>
              </a:rPr>
              <a:t>학습된 오차 모델 → sim-to-real 전이 / 오차 보상 / 적응형 적분 활용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49224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99CC"/>
                </a:solidFill>
              </a:rPr>
              <a:t>GitHub: github.com/CupidJang/my_ml_project  |  Gymnasium  |  PyTorch  |  scikit-learn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