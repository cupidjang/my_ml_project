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54864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</a:rPr>
              <a:t>Physics Error 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AACCFF"/>
                </a:solidFill>
              </a:rPr>
              <a:t>in Robot Simulation via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0F0"/>
                </a:solidFill>
              </a:rPr>
              <a:t>[2026-1] Machine Learning — Term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66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0F0F0"/>
                </a:solidFill>
              </a:rPr>
              <a:t>Inha University  |  June 1,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436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799CC"/>
                </a:solidFill>
              </a:rPr>
              <a:t>Gymnasium  |  PyTorch  |  scikit-learn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BBFF"/>
                </a:solidFill>
              </a:rPr>
              <a:t>Why does integration error matter?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1A2E"/>
                </a:solidFill>
              </a:rPr>
              <a:t>The Sim-to-Real Gap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54864" cy="320040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6420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</a:rPr>
              <a:t>Robot simulators use discrete-time numerical integration to approximate continuous physics.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54864" cy="320040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0428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</a:rPr>
              <a:t>Gymnasium Pendulum-v1 uses 1st-order Euler integration (dt = 0.05 s).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71800"/>
            <a:ext cx="54864" cy="320040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</a:rPr>
              <a:t>Euler error accumulates over long trajectories, affecting controller quality.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291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1A2E"/>
                </a:solidFill>
              </a:rPr>
              <a:t>Our Goal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749039"/>
            <a:ext cx="11430000" cy="14630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840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Train ML models to predict the integration error
(Euler result  minus  RK4 result) given the current state &amp; action.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4805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3C96"/>
                </a:solidFill>
              </a:rPr>
              <a:t>Input: (cosθ, sinθ, θ̇, τ)   →   Output: (err_theta, err_theta_dot)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4864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Application: error compensation  |  sim-to-real transfer  |  adaptive integration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Environment — Gymnasium Pendulum-v1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BBFF"/>
                </a:solidFill>
              </a:rPr>
              <a:t>Classic control benchmark with known physics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</a:rPr>
              <a:t>Pendulum Dynamics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45920"/>
            <a:ext cx="530352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7335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θ'' = (3g / 2l) sin(θ) + (3 / ml²) × τ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148840"/>
            <a:ext cx="530352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7627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g = 10 m/s²,  m = 1 kg,  l = 1 m,  dt = 0.05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51760"/>
            <a:ext cx="530352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679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|θ̇| ≤ 8 rad/s  (clipped),  |τ| ≤ 2 N·m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337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</a:rPr>
              <a:t>Integration Comparison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794760"/>
            <a:ext cx="1828800" cy="38404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822191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3794760"/>
            <a:ext cx="1005840" cy="38404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40279" y="3822191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Order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3794760"/>
            <a:ext cx="1554480" cy="38404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822191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dt per step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3794760"/>
            <a:ext cx="914400" cy="38404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3822191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Error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206240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42336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</a:rPr>
              <a:t>Euler (Gym)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94560" y="4206240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40279" y="423367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</a:rPr>
              <a:t>1st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0" y="4206240"/>
            <a:ext cx="15544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46120" y="4233672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</a:rPr>
              <a:t>0.05 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0" y="4206240"/>
            <a:ext cx="9144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00600" y="423367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</a:rPr>
              <a:t>O(dt²)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617720"/>
            <a:ext cx="1828800" cy="3840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464515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</a:rPr>
              <a:t>RK4 (ours)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94560" y="4617720"/>
            <a:ext cx="1005840" cy="3840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40279" y="46451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</a:rPr>
              <a:t>4th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0" y="4617720"/>
            <a:ext cx="1554480" cy="3840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46120" y="4645152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</a:rPr>
              <a:t>0.0025 s ×20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54880" y="4617720"/>
            <a:ext cx="914400" cy="3840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00600" y="46451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</a:rPr>
              <a:t>O(dt⁵)</a:t>
            </a:r>
          </a:p>
        </p:txBody>
      </p:sp>
      <p:pic>
        <p:nvPicPr>
          <p:cNvPr id="38" name="pendulum_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217920" y="1188720"/>
            <a:ext cx="5577840" cy="50292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217920" y="63093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</a:rPr>
              <a:t>Energy-based swing-up controller | 12 s demo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8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Dataset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BBFF"/>
                </a:solidFill>
              </a:rPr>
              <a:t>100,000 samples from Pendulum-v1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2011680" cy="1188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100,000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7830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F0F0"/>
                </a:solidFill>
              </a:rPr>
              <a:t>Total samples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514600" y="1143000"/>
            <a:ext cx="2011680" cy="1188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12344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17830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F0F0"/>
                </a:solidFill>
              </a:rPr>
              <a:t>Episodes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143000"/>
            <a:ext cx="2011680" cy="1188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2344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200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17830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F0F0"/>
                </a:solidFill>
              </a:rPr>
              <a:t>Steps / episode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12280" y="1143000"/>
            <a:ext cx="2011680" cy="1188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12344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17830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F0F0"/>
                </a:solidFill>
              </a:rPr>
              <a:t>Input features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1143000"/>
            <a:ext cx="2011680" cy="1188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2344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17830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F0F0"/>
                </a:solidFill>
              </a:rPr>
              <a:t>Target variables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606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</a:rPr>
              <a:t>Features (X)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017520"/>
            <a:ext cx="109728" cy="347472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01752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</a:rPr>
              <a:t>cos(θ)    Cosine of pendulum angle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493008"/>
            <a:ext cx="109728" cy="347472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49300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</a:rPr>
              <a:t>sin(θ)    Sine of pendulum angle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968496"/>
            <a:ext cx="109728" cy="347472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</a:rPr>
              <a:t>θ̇           Angular velocity (rad/s)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443983"/>
            <a:ext cx="109728" cy="347472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443983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</a:rPr>
              <a:t>τ           Applied torque (N·m)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2606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</a:rPr>
              <a:t>Targets (y)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017520"/>
            <a:ext cx="5577840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30632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</a:rPr>
              <a:t>err_theta  —  Angle error: Euler − RK4 (rad)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520439"/>
            <a:ext cx="5577840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3566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</a:rPr>
              <a:t>err_theta_dot  —  Velocity error: Euler − RK4 (rad/s)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</a:rPr>
              <a:t>Train 70%  |  Validation 15%  |  Test 15%      (random split, seed=42)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BBFF"/>
                </a:solidFill>
              </a:rPr>
              <a:t>Baseline + MLP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5394960" cy="5029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Linear Regression  (Baseline)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37360"/>
            <a:ext cx="109728" cy="347472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7373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MultiOutputRegressor(LinearRegression)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12848"/>
            <a:ext cx="109728" cy="347472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1284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One independent regressor per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688336"/>
            <a:ext cx="109728" cy="347472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688336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Assumes linear relationship: y = Xw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163824"/>
            <a:ext cx="109728" cy="347472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63824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Fails where error is nonlinear in sin(θ)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143000"/>
            <a:ext cx="5394960" cy="502920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MLP  (Main Model)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1737360"/>
            <a:ext cx="109728" cy="347472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17373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Input(4) → Linear(128) → ReLU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2212848"/>
            <a:ext cx="109728" cy="347472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221284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→ Linear(64) → ReLU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688336"/>
            <a:ext cx="109728" cy="347472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2688336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→ Linear(32) → ReLU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163824"/>
            <a:ext cx="109728" cy="347472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3163824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→ Linear(2)   [output]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3639312"/>
            <a:ext cx="109728" cy="347472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363931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Loss: MSELoss   |   Optimizer: Adam (lr=1e-3)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4114800"/>
            <a:ext cx="109728" cy="347472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411480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Epochs: 100   |   Batch size: 512</a:t>
            </a:r>
          </a:p>
        </p:txBody>
      </p:sp>
      <p:pic>
        <p:nvPicPr>
          <p:cNvPr id="30" name="Picture 29" descr="mlp_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4572000"/>
            <a:ext cx="8138160" cy="20116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011680" y="6492240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</a:rPr>
              <a:t>MLP training/validation MSE loss (log scale)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BBFF"/>
                </a:solidFill>
              </a:rPr>
              <a:t>Test set evaluation (15,000 samples)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3474720" cy="4846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3383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143000"/>
            <a:ext cx="2286000" cy="4846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86200" y="118872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err_theta R²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143000"/>
            <a:ext cx="2651760" cy="4846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11887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err_theta_dot R²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143000"/>
            <a:ext cx="2286000" cy="4846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118872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Mean RMSE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45920"/>
            <a:ext cx="347472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1691640"/>
            <a:ext cx="3383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</a:rPr>
              <a:t>Linear Regression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1645920"/>
            <a:ext cx="228600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169164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</a:rPr>
              <a:t>0.9936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1645920"/>
            <a:ext cx="26517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169164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</a:rPr>
              <a:t>0.5189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0" y="1645920"/>
            <a:ext cx="228600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3960" y="169164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</a:rPr>
              <a:t>1.72e-02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148840"/>
            <a:ext cx="3474720" cy="484632"/>
          </a:xfrm>
          <a:prstGeom prst="rect">
            <a:avLst/>
          </a:prstGeom>
          <a:solidFill>
            <a:srgbClr val="E8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194560"/>
            <a:ext cx="3383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</a:rPr>
              <a:t>MLP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0" y="2148840"/>
            <a:ext cx="2286000" cy="484632"/>
          </a:xfrm>
          <a:prstGeom prst="rect">
            <a:avLst/>
          </a:prstGeom>
          <a:solidFill>
            <a:srgbClr val="E8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86200" y="219456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</a:rPr>
              <a:t>0.9993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2148840"/>
            <a:ext cx="2651760" cy="484632"/>
          </a:xfrm>
          <a:prstGeom prst="rect">
            <a:avLst/>
          </a:prstGeom>
          <a:solidFill>
            <a:srgbClr val="E8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21945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</a:rPr>
              <a:t>0.9974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286000" cy="484632"/>
          </a:xfrm>
          <a:prstGeom prst="rect">
            <a:avLst/>
          </a:prstGeom>
          <a:solidFill>
            <a:srgbClr val="E8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23960" y="219456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</a:rPr>
              <a:t>1.41e-03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2606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873B"/>
                </a:solidFill>
              </a:rPr>
              <a:t>★  MLP achieves R² &gt; 0.99 on BOTH targets</a:t>
            </a:r>
          </a:p>
        </p:txBody>
      </p:sp>
      <p:pic>
        <p:nvPicPr>
          <p:cNvPr id="31" name="Picture 30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017520"/>
            <a:ext cx="114300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Prediction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BBFF"/>
                </a:solidFill>
              </a:rPr>
              <a:t>True vs Predicted &amp; Residuals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tter_err_th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585216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388620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</a:rPr>
              <a:t>err_theta: True vs Predicted</a:t>
            </a:r>
          </a:p>
        </p:txBody>
      </p:sp>
      <p:pic>
        <p:nvPicPr>
          <p:cNvPr id="8" name="Picture 7" descr="scatter_err_theta_d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85216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388620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</a:rPr>
              <a:t>err_theta_dot: True vs Predicted</a:t>
            </a:r>
          </a:p>
        </p:txBody>
      </p:sp>
      <p:pic>
        <p:nvPicPr>
          <p:cNvPr id="10" name="Picture 9" descr="residu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206240"/>
            <a:ext cx="1124712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</a:rPr>
              <a:t>Residual distributions — MLP residuals are tightly centred at zero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11430000" cy="4114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79576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Why does MLP win?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45920"/>
            <a:ext cx="73152" cy="256032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The integration error depends on sin(θ) — a nonlinear function.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29967"/>
            <a:ext cx="73152" cy="256032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84248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LR captures err_theta well (dominant linear term θ̇) but fails for err_theta_dot.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414015"/>
            <a:ext cx="73152" cy="256032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MLP's ReLU layers approximate the nonlinear error surface accurately.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889503"/>
            <a:ext cx="11430000" cy="4114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26079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Failure modes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392423"/>
            <a:ext cx="73152" cy="256032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346703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Large residuals near |θ̇| ≈ 8 rad/s (velocity clipping = hard discontinuity).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776472"/>
            <a:ext cx="73152" cy="256032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730752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Upright position (θ ≈ 0) has the largest 2nd derivative → biggest Euler error.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60520"/>
            <a:ext cx="73152" cy="256032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114800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Both models slightly underpredict extreme error values.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636008"/>
            <a:ext cx="11430000" cy="4114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672584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138928"/>
            <a:ext cx="73152" cy="256032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093208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Add physics features: sin²(θ), θ̇·sin(θ) to boost LR baseline.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522976"/>
            <a:ext cx="73152" cy="256032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477256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Sequence model (LSTM) for multi-step error accumulation prediction.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907024"/>
            <a:ext cx="73152" cy="256032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861304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Integrate into MPC controller for closed-loop error compensation.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51760"/>
            <a:ext cx="12188952" cy="54864"/>
          </a:xfrm>
          <a:prstGeom prst="rect">
            <a:avLst/>
          </a:prstGeom>
          <a:solidFill>
            <a:srgbClr val="0F3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880360"/>
            <a:ext cx="10881360" cy="713232"/>
          </a:xfrm>
          <a:prstGeom prst="rect">
            <a:avLst/>
          </a:prstGeom>
          <a:solidFill>
            <a:srgbClr val="252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94436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DDEEFF"/>
                </a:solidFill>
              </a:rPr>
              <a:t>MLP [128→64→32] achieves R² &gt; 0.99 on both targets (RMSE = 1.4×10⁻³)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703320"/>
            <a:ext cx="10881360" cy="713232"/>
          </a:xfrm>
          <a:prstGeom prst="rect">
            <a:avLst/>
          </a:prstGeom>
          <a:solidFill>
            <a:srgbClr val="252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673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DDEEFF"/>
                </a:solidFill>
              </a:rPr>
              <a:t>Integration error is a smooth, highly learnable function of state &amp; action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526280"/>
            <a:ext cx="10881360" cy="713232"/>
          </a:xfrm>
          <a:prstGeom prst="rect">
            <a:avLst/>
          </a:prstGeom>
          <a:solidFill>
            <a:srgbClr val="252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59028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DDEEFF"/>
                </a:solidFill>
              </a:rPr>
              <a:t>Linear Regression captures angle error (R²=0.99) but fails for velocity error (R²=0.52)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349240"/>
            <a:ext cx="10881360" cy="713232"/>
          </a:xfrm>
          <a:prstGeom prst="rect">
            <a:avLst/>
          </a:prstGeom>
          <a:solidFill>
            <a:srgbClr val="252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41324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DDEEFF"/>
                </a:solidFill>
              </a:rPr>
              <a:t>Learned error model → sim-to-real transfer, error compensation, adaptive integration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4922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799CC"/>
                </a:solidFill>
              </a:rPr>
              <a:t>GitHub  |  Gymnasium  |  PyTorch  |  scikit-learn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